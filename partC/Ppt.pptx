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4" r:id="rId4"/>
    <p:sldId id="26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3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A1D2F-357C-3E6F-5CC0-52FDD659B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E1A9EA-EB63-966B-11CE-66271F0C8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184639-13EF-C97A-DF61-800E5BA9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ECF66-5CEC-4C49-9970-F0582DB579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BF6FA-F77F-CBB6-533C-CE3CC5D27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263940-D464-630E-3E17-CB3A2B122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7044-73C6-4392-9EE4-7096C75AD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929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80719-9204-7607-7451-25F296DCA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A24AA8-A505-273B-16D4-01167A2C5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9B0EA8-BC0D-80A2-174D-6715C64D3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ECF66-5CEC-4C49-9970-F0582DB579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9BA388-E901-5B3F-BCEB-92D60B45B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DD6562-D529-6E18-DC15-0ECA2C2EF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7044-73C6-4392-9EE4-7096C75AD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7046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3C6E-BF1A-0B26-8BA7-D5DB8E9C6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C70F62-02EA-BB8E-2BB4-07E375B78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B405BA-DB2E-A234-E376-67635F64E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ECF66-5CEC-4C49-9970-F0582DB579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A5B1ED-00F3-8623-9EA7-53A2EE985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3907C1-6620-2A48-B447-46E45C893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7044-73C6-4392-9EE4-7096C75AD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68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F394AA-1D1A-82C8-3E8E-EE8C76A51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744C2D-5266-EE61-A5EC-8D2867A60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78F1A4-798C-231F-D9CC-BA95919CF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E7C18D-AC57-EC17-FDAF-022CC1BC3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ECF66-5CEC-4C49-9970-F0582DB579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C2ADC7-65A1-170B-63CE-56706C91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54776E-3A27-B079-D3F5-E25243E9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7044-73C6-4392-9EE4-7096C75AD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15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41C5CD-0D19-512C-596B-941BF22BD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1E0CB6-C719-5878-6CB1-64898F239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13CC31-C0DC-F8DD-F520-AAC900FA1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E08CA99-491C-4345-FA64-FF2F0C79D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DE27804-0815-27B1-E7B3-A4F7853008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168B3CC-0BB7-A703-ECB8-B97B58CB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ECF66-5CEC-4C49-9970-F0582DB579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2C18881-FB64-BA24-901C-734FB028C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68A990-3FD5-215B-D75C-A62FFFE87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7044-73C6-4392-9EE4-7096C75AD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03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B2587-C9AB-DF94-BD00-091A8EF09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72BE764-BD3D-8B0E-C384-96108FF0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ECF66-5CEC-4C49-9970-F0582DB579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563E0A5-1DDC-7291-4546-82C3422DA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6E7D17E-81D7-A9E1-2E90-02D716CAA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7044-73C6-4392-9EE4-7096C75AD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933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34EA9F2-422C-0A1A-12C6-9C44B0FB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ECF66-5CEC-4C49-9970-F0582DB579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2EC3EA1-E3F6-E46A-C3C5-21C12F5E5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2DA79-4ECB-FD00-F9DA-8BD415F45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7044-73C6-4392-9EE4-7096C75AD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709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919542-E5CD-B5A7-4549-0A34628A0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40879C-9521-E920-5046-2D8017F99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ACD6C0-9224-D1A4-5338-2984A9559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254DFB-A838-41ED-EAA5-D453E0542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ECF66-5CEC-4C49-9970-F0582DB579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71E858-C46C-A44E-839D-16AB53C74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BD1A7E-D91C-4C10-501F-ED1D1A32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7044-73C6-4392-9EE4-7096C75AD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617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EA3B4-3F31-59DF-8320-389CD66F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AA6C25-5EC6-A596-A3E9-4AADCFC8CB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2882BD-A41C-1241-0B00-C5DC18FCA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4BC9CE-C91D-C867-680D-8A59BA050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ECF66-5CEC-4C49-9970-F0582DB579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84B3FE-F134-7F40-3411-FA2B9710F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E7314F-5FC2-F590-6C9B-DAE1F159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7044-73C6-4392-9EE4-7096C75AD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305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2BDBA6-8A0A-73B6-DAEE-23F4CCE4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2895DA-FA6F-B0A8-AC63-854BF3450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9665E4-A03A-516C-88AB-EC9859DE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ECF66-5CEC-4C49-9970-F0582DB579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769B7D-8358-7074-D88E-3E4C39949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7FAECE-E6D3-99C9-C3B8-7CF559E0C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7044-73C6-4392-9EE4-7096C75AD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647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C41462D-975F-98DF-1B54-BE7F4430D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20B86D-C7D7-2908-3160-76F700CF5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C94786-63B8-C06F-802D-4C620231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ECF66-5CEC-4C49-9970-F0582DB579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DABBF2-8CB1-E8D7-B9A7-71F92F3C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9A2E1-893C-6DC7-E9A0-70ACE65A3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7044-73C6-4392-9EE4-7096C75AD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972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B2A"/>
            </a:gs>
            <a:gs pos="100000">
              <a:srgbClr val="152D4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2FB928-D590-AC74-902D-49BEFDBC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9166D4-48C4-CF4C-8795-5A18CDE5B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29DD0F-A6AF-D05E-CDB9-04B96DC05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ECF66-5CEC-4C49-9970-F0582DB579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AD670C-25BD-45FC-42DC-B7E3D8041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C301BA-A77B-6131-3581-3DFE862C9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37044-73C6-4392-9EE4-7096C75AD852}" type="slidenum">
              <a:rPr lang="ru-RU" smtClean="0"/>
              <a:t>‹#›</a:t>
            </a:fld>
            <a:endParaRPr lang="ru-RU"/>
          </a:p>
        </p:txBody>
      </p:sp>
      <p:sp>
        <p:nvSpPr>
          <p:cNvPr id="100" name="AccentBar"/>
          <p:cNvSpPr>
            <a:spLocks noGrp="1"/>
          </p:cNvSpPr>
          <p:nvPr/>
        </p:nvSpPr>
        <p:spPr>
          <a:xfrm>
            <a:off x="0" y="6171600"/>
            <a:ext cx="9144000" cy="76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ideBar"/>
          <p:cNvSpPr>
            <a:spLocks noGrp="1"/>
          </p:cNvSpPr>
          <p:nvPr/>
        </p:nvSpPr>
        <p:spPr>
          <a:xfrm>
            <a:off x="0" y="0"/>
            <a:ext cx="28800" cy="61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18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9A84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4F6F9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>
          <a:solidFill>
            <a:srgbClr val="F4F6F9"/>
          </a:solidFill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0F56F7-FB88-22EE-6052-EA908C26B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968500"/>
            <a:ext cx="10668000" cy="965200"/>
          </a:xfrm>
        </p:spPr>
        <p:txBody>
          <a:bodyPr/>
          <a:lstStyle/>
          <a:p>
            <a:pPr algn="ctr">
              <a:buNone/>
            </a:pPr>
            <a:r>
              <a:rPr lang="en-US" sz="4000" b="1" dirty="0">
                <a:solidFill>
                  <a:srgbClr val="C9A84C"/>
                </a:solidFill>
              </a:rPr>
              <a:t>University Management System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FE902D-F5B4-0C3E-45F6-C2E1EFF8D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276600"/>
            <a:ext cx="10668000" cy="1460500"/>
          </a:xfrm>
        </p:spPr>
        <p:txBody>
          <a:bodyPr/>
          <a:lstStyle/>
          <a:p>
            <a:pPr algn="ctr">
              <a:buNone/>
            </a:pPr>
            <a:r>
              <a:rPr lang="en-US" sz="2000" dirty="0">
                <a:solidFill>
                  <a:srgbClr val="AABFD4"/>
                </a:solidFill>
              </a:rPr>
              <a:t>OOP Final Project | Java 17 | Console Application</a:t>
            </a:r>
          </a:p>
          <a:p>
            <a:pPr algn="ctr">
              <a:buNone/>
            </a:pPr>
            <a:endParaRPr lang="en-US" sz="2000" dirty="0">
              <a:solidFill>
                <a:srgbClr val="AABFD4"/>
              </a:solidFill>
            </a:endParaRPr>
          </a:p>
          <a:p>
            <a:pPr algn="ctr">
              <a:buNone/>
            </a:pPr>
            <a:r>
              <a:rPr lang="en-US" sz="1800" b="1" dirty="0">
                <a:solidFill>
                  <a:srgbClr val="F4F6F9"/>
                </a:solidFill>
              </a:rPr>
              <a:t>Alexander  |  Aibar  |  Almas</a:t>
            </a:r>
          </a:p>
        </p:txBody>
      </p:sp>
      <p:sp>
        <p:nvSpPr>
          <p:cNvPr id="10" name="JavaBadge"/>
          <p:cNvSpPr>
            <a:spLocks noGrp="1"/>
          </p:cNvSpPr>
          <p:nvPr/>
        </p:nvSpPr>
        <p:spPr>
          <a:xfrm>
            <a:off x="10769600" y="228600"/>
            <a:ext cx="1117600" cy="381000"/>
          </a:xfrm>
          <a:prstGeom prst="roundRect">
            <a:avLst>
              <a:gd name="adj" fmla="val 20000"/>
            </a:avLst>
          </a:prstGeom>
          <a:solidFill>
            <a:srgbClr val="1E4D8C"/>
          </a:solidFill>
          <a:ln w="19050">
            <a:solidFill>
              <a:srgbClr val="C9A84C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Java 17</a:t>
            </a:r>
          </a:p>
        </p:txBody>
      </p:sp>
      <p:sp>
        <p:nvSpPr>
          <p:cNvPr id="11" name="OOPBadge"/>
          <p:cNvSpPr>
            <a:spLocks noGrp="1"/>
          </p:cNvSpPr>
          <p:nvPr/>
        </p:nvSpPr>
        <p:spPr>
          <a:xfrm>
            <a:off x="10769600" y="711200"/>
            <a:ext cx="1117600" cy="381000"/>
          </a:xfrm>
          <a:prstGeom prst="roundRect">
            <a:avLst>
              <a:gd name="adj" fmla="val 20000"/>
            </a:avLst>
          </a:prstGeom>
          <a:solidFill>
            <a:srgbClr val="1A5C3A"/>
          </a:solidFill>
          <a:ln w="19050">
            <a:solidFill>
              <a:srgbClr val="4CAF82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OOP</a:t>
            </a:r>
          </a:p>
        </p:txBody>
      </p:sp>
      <p:sp>
        <p:nvSpPr>
          <p:cNvPr id="12" name="Divider"/>
          <p:cNvSpPr>
            <a:spLocks noGrp="1"/>
          </p:cNvSpPr>
          <p:nvPr/>
        </p:nvSpPr>
        <p:spPr>
          <a:xfrm>
            <a:off x="0" y="3136900"/>
            <a:ext cx="12192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4851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59AD2F-F5E6-1D0E-66BE-0F4849A9A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1143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C9A84C"/>
                </a:solidFill>
              </a:rPr>
              <a:t>What We Built</a:t>
            </a:r>
          </a:p>
        </p:txBody>
      </p:sp>
      <p:sp>
        <p:nvSpPr>
          <p:cNvPr id="20" name="C20"/>
          <p:cNvSpPr/>
          <p:nvPr/>
        </p:nvSpPr>
        <p:spPr>
          <a:xfrm>
            <a:off x="381000" y="1968500"/>
            <a:ext cx="3670300" cy="1701800"/>
          </a:xfrm>
          <a:prstGeom prst="roundRect">
            <a:avLst>
              <a:gd name="adj" fmla="val 10000"/>
            </a:avLst>
          </a:prstGeom>
          <a:solidFill>
            <a:srgbClr val="0F2D5C"/>
          </a:solidFill>
          <a:ln w="22860">
            <a:solidFill>
              <a:srgbClr val="3A86FF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500" b="1" dirty="0">
                <a:solidFill>
                  <a:srgbClr val="3A86FF"/>
                </a:solidFill>
              </a:rPr>
              <a:t>7 User Roles</a:t>
            </a:r>
          </a:p>
          <a:p>
            <a:pPr algn="l">
              <a:buNone/>
            </a:pPr>
            <a:r>
              <a:rPr lang="en-US" sz="1100" dirty="0">
                <a:solidFill>
                  <a:srgbClr val="C8D8E8"/>
                </a:solidFill>
              </a:rPr>
              <a:t>Admin, Manager, Teacher, GraduateStudent, Student, TechSupport, ResearchTeacher</a:t>
            </a:r>
          </a:p>
        </p:txBody>
      </p:sp>
      <p:sp>
        <p:nvSpPr>
          <p:cNvPr id="21" name="C21"/>
          <p:cNvSpPr/>
          <p:nvPr/>
        </p:nvSpPr>
        <p:spPr>
          <a:xfrm>
            <a:off x="4254500" y="1968500"/>
            <a:ext cx="3670300" cy="1701800"/>
          </a:xfrm>
          <a:prstGeom prst="roundRect">
            <a:avLst>
              <a:gd name="adj" fmla="val 10000"/>
            </a:avLst>
          </a:prstGeom>
          <a:solidFill>
            <a:srgbClr val="0F3A24"/>
          </a:solidFill>
          <a:ln w="22860">
            <a:solidFill>
              <a:srgbClr val="4CAF82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500" b="1" dirty="0">
                <a:solidFill>
                  <a:srgbClr val="4CAF82"/>
                </a:solidFill>
              </a:rPr>
              <a:t>4 Design Patterns</a:t>
            </a:r>
          </a:p>
          <a:p>
            <a:pPr algn="l">
              <a:buNone/>
            </a:pPr>
            <a:r>
              <a:rPr lang="en-US" sz="1100" dirty="0">
                <a:solidFill>
                  <a:srgbClr val="C8D8E8"/>
                </a:solidFill>
              </a:rPr>
              <a:t>Singleton, Observer, Factory Method, Decorator</a:t>
            </a:r>
          </a:p>
        </p:txBody>
      </p:sp>
      <p:sp>
        <p:nvSpPr>
          <p:cNvPr id="22" name="C22"/>
          <p:cNvSpPr/>
          <p:nvPr/>
        </p:nvSpPr>
        <p:spPr>
          <a:xfrm>
            <a:off x="8128000" y="1968500"/>
            <a:ext cx="3670300" cy="1701800"/>
          </a:xfrm>
          <a:prstGeom prst="roundRect">
            <a:avLst>
              <a:gd name="adj" fmla="val 10000"/>
            </a:avLst>
          </a:prstGeom>
          <a:solidFill>
            <a:srgbClr val="3A0F0F"/>
          </a:solidFill>
          <a:ln w="22860">
            <a:solidFill>
              <a:srgbClr val="E05C5C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500" b="1" dirty="0">
                <a:solidFill>
                  <a:srgbClr val="E05C5C"/>
                </a:solidFill>
              </a:rPr>
              <a:t>5 Custom Exceptions</a:t>
            </a:r>
          </a:p>
          <a:p>
            <a:pPr algn="l">
              <a:buNone/>
            </a:pPr>
            <a:r>
              <a:rPr lang="en-US" sz="1100" dirty="0">
                <a:solidFill>
                  <a:srgbClr val="C8D8E8"/>
                </a:solidFill>
              </a:rPr>
              <a:t>CreditLimitExceeded, MaxFail, NotResearcher, InvalidSupervisor, LowHIndex</a:t>
            </a:r>
          </a:p>
        </p:txBody>
      </p:sp>
      <p:sp>
        <p:nvSpPr>
          <p:cNvPr id="23" name="C23"/>
          <p:cNvSpPr/>
          <p:nvPr/>
        </p:nvSpPr>
        <p:spPr>
          <a:xfrm>
            <a:off x="381000" y="3873500"/>
            <a:ext cx="3670300" cy="1701800"/>
          </a:xfrm>
          <a:prstGeom prst="roundRect">
            <a:avLst>
              <a:gd name="adj" fmla="val 10000"/>
            </a:avLst>
          </a:prstGeom>
          <a:solidFill>
            <a:srgbClr val="22103A"/>
          </a:solidFill>
          <a:ln w="22860">
            <a:solidFill>
              <a:srgbClr val="7B61FF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500" b="1" dirty="0">
                <a:solidFill>
                  <a:srgbClr val="7B61FF"/>
                </a:solidFill>
              </a:rPr>
              <a:t>Multilingual UI</a:t>
            </a:r>
          </a:p>
          <a:p>
            <a:pPr algn="l">
              <a:buNone/>
            </a:pPr>
            <a:r>
              <a:rPr lang="en-US" sz="1100" dirty="0">
                <a:solidFill>
                  <a:srgbClr val="C8D8E8"/>
                </a:solidFill>
              </a:rPr>
              <a:t>English, Russian, Kazakh — full menu localization</a:t>
            </a:r>
          </a:p>
        </p:txBody>
      </p:sp>
      <p:sp>
        <p:nvSpPr>
          <p:cNvPr id="24" name="C24"/>
          <p:cNvSpPr/>
          <p:nvPr/>
        </p:nvSpPr>
        <p:spPr>
          <a:xfrm>
            <a:off x="4254500" y="3873500"/>
            <a:ext cx="3670300" cy="1701800"/>
          </a:xfrm>
          <a:prstGeom prst="roundRect">
            <a:avLst>
              <a:gd name="adj" fmla="val 10000"/>
            </a:avLst>
          </a:prstGeom>
          <a:solidFill>
            <a:srgbClr val="3A2A00"/>
          </a:solidFill>
          <a:ln w="22860">
            <a:solidFill>
              <a:srgbClr val="C9A84C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500" b="1" dirty="0">
                <a:solidFill>
                  <a:srgbClr val="C9A84C"/>
                </a:solidFill>
              </a:rPr>
              <a:t>Data Persistence</a:t>
            </a:r>
          </a:p>
          <a:p>
            <a:pPr algn="l">
              <a:buNone/>
            </a:pPr>
            <a:r>
              <a:rPr lang="en-US" sz="1100" dirty="0">
                <a:solidFill>
                  <a:srgbClr val="C8D8E8"/>
                </a:solidFill>
              </a:rPr>
              <a:t>Java serialization, saved on logout, credentials in data/</a:t>
            </a:r>
          </a:p>
        </p:txBody>
      </p:sp>
      <p:sp>
        <p:nvSpPr>
          <p:cNvPr id="25" name="C25"/>
          <p:cNvSpPr/>
          <p:nvPr/>
        </p:nvSpPr>
        <p:spPr>
          <a:xfrm>
            <a:off x="8128000" y="3873500"/>
            <a:ext cx="3670300" cy="1701800"/>
          </a:xfrm>
          <a:prstGeom prst="roundRect">
            <a:avLst>
              <a:gd name="adj" fmla="val 10000"/>
            </a:avLst>
          </a:prstGeom>
          <a:solidFill>
            <a:srgbClr val="0A2C3A"/>
          </a:solidFill>
          <a:ln w="22860">
            <a:solidFill>
              <a:srgbClr val="3ABEFF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500" b="1" dirty="0">
                <a:solidFill>
                  <a:srgbClr val="3ABEFF"/>
                </a:solidFill>
              </a:rPr>
              <a:t>Research System</a:t>
            </a:r>
          </a:p>
          <a:p>
            <a:pPr algn="l">
              <a:buNone/>
            </a:pPr>
            <a:r>
              <a:rPr lang="en-US" sz="1100" dirty="0">
                <a:solidFill>
                  <a:srgbClr val="C8D8E8"/>
                </a:solidFill>
              </a:rPr>
              <a:t>Papers, h-index, BibTeX citations, diploma, RegEx search</a:t>
            </a:r>
          </a:p>
        </p:txBody>
      </p:sp>
      <p:sp>
        <p:nvSpPr>
          <p:cNvPr id="30" name="C30"/>
          <p:cNvSpPr/>
          <p:nvPr/>
        </p:nvSpPr>
        <p:spPr>
          <a:xfrm>
            <a:off x="381000" y="5778500"/>
            <a:ext cx="11417300" cy="609600"/>
          </a:xfrm>
          <a:prstGeom prst="roundRect">
            <a:avLst>
              <a:gd name="adj" fmla="val 10000"/>
            </a:avLst>
          </a:prstGeom>
          <a:solidFill>
            <a:srgbClr val="112211"/>
          </a:solidFill>
          <a:ln w="22860">
            <a:solidFill>
              <a:srgbClr val="4CAF82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500" b="1" dirty="0">
                <a:solidFill>
                  <a:srgbClr val="4CAF82"/>
                </a:solidFill>
              </a:rPr>
              <a:t>Bonus:</a:t>
            </a:r>
          </a:p>
          <a:p>
            <a:pPr algn="l">
              <a:buNone/>
            </a:pPr>
            <a:r>
              <a:rPr lang="en-US" sz="1100" dirty="0">
                <a:solidFill>
                  <a:srgbClr val="C8D8E8"/>
                </a:solidFill>
              </a:rPr>
              <a:t>Startups, Recommendation Letters, Schedule, Attendance Tracking</a:t>
            </a:r>
          </a:p>
        </p:txBody>
      </p:sp>
    </p:spTree>
    <p:extLst>
      <p:ext uri="{BB962C8B-B14F-4D97-AF65-F5344CB8AC3E}">
        <p14:creationId xmlns:p14="http://schemas.microsoft.com/office/powerpoint/2010/main" val="1433207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2EFC5-3D77-4684-C464-63BF9C463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1143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4CAF82"/>
                </a:solidFill>
              </a:rPr>
              <a:t>What Works ✅</a:t>
            </a:r>
          </a:p>
        </p:txBody>
      </p:sp>
      <p:sp>
        <p:nvSpPr>
          <p:cNvPr id="40" name="S40"/>
          <p:cNvSpPr/>
          <p:nvPr/>
        </p:nvSpPr>
        <p:spPr>
          <a:xfrm>
            <a:off x="381000" y="1803400"/>
            <a:ext cx="5600700" cy="1219200"/>
          </a:xfrm>
          <a:prstGeom prst="roundRect">
            <a:avLst>
              <a:gd name="adj" fmla="val 8000"/>
            </a:avLst>
          </a:prstGeom>
          <a:solidFill>
            <a:srgbClr val="0F2A1A"/>
          </a:solidFill>
          <a:ln w="19050">
            <a:solidFill>
              <a:srgbClr val="4CAF82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400" b="1" dirty="0">
                <a:solidFill>
                  <a:srgbClr val="4CAF82"/>
                </a:solidFill>
              </a:rPr>
              <a:t>Authentication</a:t>
            </a:r>
          </a:p>
          <a:p>
            <a:pPr algn="l">
              <a:buNone/>
            </a:pPr>
            <a:r>
              <a:rPr lang="en-US" sz="1200" dirty="0">
                <a:solidFill>
                  <a:srgbClr val="C8D8E8"/>
                </a:solidFill>
              </a:rPr>
              <a:t>Full login with language selection (EN/RU/KZ), role-based routing</a:t>
            </a:r>
          </a:p>
        </p:txBody>
      </p:sp>
      <p:sp>
        <p:nvSpPr>
          <p:cNvPr id="41" name="S41"/>
          <p:cNvSpPr/>
          <p:nvPr/>
        </p:nvSpPr>
        <p:spPr>
          <a:xfrm>
            <a:off x="6210300" y="1803400"/>
            <a:ext cx="5600700" cy="1219200"/>
          </a:xfrm>
          <a:prstGeom prst="roundRect">
            <a:avLst>
              <a:gd name="adj" fmla="val 8000"/>
            </a:avLst>
          </a:prstGeom>
          <a:solidFill>
            <a:srgbClr val="0F2A1A"/>
          </a:solidFill>
          <a:ln w="19050">
            <a:solidFill>
              <a:srgbClr val="4CAF82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400" b="1" dirty="0">
                <a:solidFill>
                  <a:srgbClr val="4CAF82"/>
                </a:solidFill>
              </a:rPr>
              <a:t>Course Registration</a:t>
            </a:r>
          </a:p>
          <a:p>
            <a:pPr algn="l">
              <a:buNone/>
            </a:pPr>
            <a:r>
              <a:rPr lang="en-US" sz="1200" dirty="0">
                <a:solidFill>
                  <a:srgbClr val="C8D8E8"/>
                </a:solidFill>
              </a:rPr>
              <a:t>Credit limit (21) and fail count (3) checks enforced</a:t>
            </a:r>
          </a:p>
        </p:txBody>
      </p:sp>
      <p:sp>
        <p:nvSpPr>
          <p:cNvPr id="42" name="S42"/>
          <p:cNvSpPr/>
          <p:nvPr/>
        </p:nvSpPr>
        <p:spPr>
          <a:xfrm>
            <a:off x="381000" y="3251200"/>
            <a:ext cx="5600700" cy="1219200"/>
          </a:xfrm>
          <a:prstGeom prst="roundRect">
            <a:avLst>
              <a:gd name="adj" fmla="val 8000"/>
            </a:avLst>
          </a:prstGeom>
          <a:solidFill>
            <a:srgbClr val="0F2A1A"/>
          </a:solidFill>
          <a:ln w="19050">
            <a:solidFill>
              <a:srgbClr val="4CAF82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400" b="1" dirty="0">
                <a:solidFill>
                  <a:srgbClr val="4CAF82"/>
                </a:solidFill>
              </a:rPr>
              <a:t>Mark System</a:t>
            </a:r>
          </a:p>
          <a:p>
            <a:pPr algn="l">
              <a:buNone/>
            </a:pPr>
            <a:r>
              <a:rPr lang="en-US" sz="1200" dirty="0">
                <a:solidFill>
                  <a:srgbClr val="C8D8E8"/>
                </a:solidFill>
              </a:rPr>
              <a:t>att1 (30) + att2 (30) + exam (40) = 100 pts, GPA calculation</a:t>
            </a:r>
          </a:p>
        </p:txBody>
      </p:sp>
      <p:sp>
        <p:nvSpPr>
          <p:cNvPr id="43" name="S43"/>
          <p:cNvSpPr/>
          <p:nvPr/>
        </p:nvSpPr>
        <p:spPr>
          <a:xfrm>
            <a:off x="6210300" y="3251200"/>
            <a:ext cx="5600700" cy="1219200"/>
          </a:xfrm>
          <a:prstGeom prst="roundRect">
            <a:avLst>
              <a:gd name="adj" fmla="val 8000"/>
            </a:avLst>
          </a:prstGeom>
          <a:solidFill>
            <a:srgbClr val="0F2A1A"/>
          </a:solidFill>
          <a:ln w="19050">
            <a:solidFill>
              <a:srgbClr val="4CAF82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400" b="1" dirty="0">
                <a:solidFill>
                  <a:srgbClr val="4CAF82"/>
                </a:solidFill>
              </a:rPr>
              <a:t>Research System</a:t>
            </a:r>
          </a:p>
          <a:p>
            <a:pPr algn="l">
              <a:buNone/>
            </a:pPr>
            <a:r>
              <a:rPr lang="en-US" sz="1200" dirty="0">
                <a:solidFill>
                  <a:srgbClr val="C8D8E8"/>
                </a:solidFill>
              </a:rPr>
              <a:t>Papers, h-index, projects, diploma management</a:t>
            </a:r>
          </a:p>
        </p:txBody>
      </p:sp>
      <p:sp>
        <p:nvSpPr>
          <p:cNvPr id="44" name="S44"/>
          <p:cNvSpPr/>
          <p:nvPr/>
        </p:nvSpPr>
        <p:spPr>
          <a:xfrm>
            <a:off x="381000" y="4699000"/>
            <a:ext cx="5600700" cy="1219200"/>
          </a:xfrm>
          <a:prstGeom prst="roundRect">
            <a:avLst>
              <a:gd name="adj" fmla="val 8000"/>
            </a:avLst>
          </a:prstGeom>
          <a:solidFill>
            <a:srgbClr val="0F2A1A"/>
          </a:solidFill>
          <a:ln w="19050">
            <a:solidFill>
              <a:srgbClr val="4CAF82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400" b="1" dirty="0">
                <a:solidFill>
                  <a:srgbClr val="4CAF82"/>
                </a:solidFill>
              </a:rPr>
              <a:t>Design Patterns Live</a:t>
            </a:r>
          </a:p>
          <a:p>
            <a:pPr algn="l">
              <a:buNone/>
            </a:pPr>
            <a:r>
              <a:rPr lang="en-US" sz="1200" dirty="0">
                <a:solidFill>
                  <a:srgbClr val="C8D8E8"/>
                </a:solidFill>
              </a:rPr>
              <a:t>Observer on journal publish, Decorator on messages (urgent/encrypted)</a:t>
            </a:r>
          </a:p>
        </p:txBody>
      </p:sp>
      <p:sp>
        <p:nvSpPr>
          <p:cNvPr id="45" name="S45"/>
          <p:cNvSpPr/>
          <p:nvPr/>
        </p:nvSpPr>
        <p:spPr>
          <a:xfrm>
            <a:off x="6210300" y="4699000"/>
            <a:ext cx="5600700" cy="1219200"/>
          </a:xfrm>
          <a:prstGeom prst="roundRect">
            <a:avLst>
              <a:gd name="adj" fmla="val 8000"/>
            </a:avLst>
          </a:prstGeom>
          <a:solidFill>
            <a:srgbClr val="0F2A1A"/>
          </a:solidFill>
          <a:ln w="19050">
            <a:solidFill>
              <a:srgbClr val="4CAF82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400" b="1" dirty="0">
                <a:solidFill>
                  <a:srgbClr val="4CAF82"/>
                </a:solidFill>
              </a:rPr>
              <a:t>All Menus Working</a:t>
            </a:r>
          </a:p>
          <a:p>
            <a:pPr algn="l">
              <a:buNone/>
            </a:pPr>
            <a:r>
              <a:rPr lang="en-US" sz="1200" dirty="0">
                <a:solidFill>
                  <a:srgbClr val="C8D8E8"/>
                </a:solidFill>
              </a:rPr>
              <a:t>Student, Teacher, Manager, Admin, GraduateStudent, TechSupport</a:t>
            </a:r>
          </a:p>
        </p:txBody>
      </p:sp>
      <p:sp>
        <p:nvSpPr>
          <p:cNvPr id="50" name="S50"/>
          <p:cNvSpPr/>
          <p:nvPr/>
        </p:nvSpPr>
        <p:spPr>
          <a:xfrm>
            <a:off x="381000" y="6146800"/>
            <a:ext cx="11430000" cy="609600"/>
          </a:xfrm>
          <a:prstGeom prst="roundRect">
            <a:avLst>
              <a:gd name="adj" fmla="val 8000"/>
            </a:avLst>
          </a:prstGeom>
          <a:solidFill>
            <a:srgbClr val="0A1F12"/>
          </a:solidFill>
          <a:ln w="19050">
            <a:solidFill>
              <a:srgbClr val="4CAF82"/>
            </a:solidFill>
          </a:ln>
        </p:spPr>
        <p:txBody>
          <a:bodyPr wrap="square" lIns="91440" tIns="57600" rIns="91440" bIns="45720"/>
          <a:lstStyle/>
          <a:p>
            <a:pPr algn="l">
              <a:buNone/>
            </a:pPr>
            <a:r>
              <a:rPr lang="en-US" sz="1400" b="1" dirty="0">
                <a:solidFill>
                  <a:srgbClr val="4CAF82"/>
                </a:solidFill>
              </a:rPr>
              <a:t>Data Persistence:</a:t>
            </a:r>
          </a:p>
          <a:p>
            <a:pPr algn="l">
              <a:buNone/>
            </a:pPr>
            <a:r>
              <a:rPr lang="en-US" sz="1200" dirty="0">
                <a:solidFill>
                  <a:srgbClr val="C8D8E8"/>
                </a:solidFill>
              </a:rPr>
              <a:t>Saved to files on logout — credentials.txt auto-exported on every session</a:t>
            </a:r>
          </a:p>
        </p:txBody>
      </p:sp>
    </p:spTree>
    <p:extLst>
      <p:ext uri="{BB962C8B-B14F-4D97-AF65-F5344CB8AC3E}">
        <p14:creationId xmlns:p14="http://schemas.microsoft.com/office/powerpoint/2010/main" val="332812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AF1DBF-C6A5-FD4E-3138-EC2426DB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4000"/>
            <a:ext cx="11430000" cy="9144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FF9F40"/>
                </a:solidFill>
              </a:rPr>
              <a:t>Limitations ⚠️ &amp; Lessons Learned</a:t>
            </a:r>
          </a:p>
        </p:txBody>
      </p:sp>
      <p:sp>
        <p:nvSpPr>
          <p:cNvPr id="60" name="Panel60"/>
          <p:cNvSpPr/>
          <p:nvPr/>
        </p:nvSpPr>
        <p:spPr>
          <a:xfrm>
            <a:off x="279400" y="1295400"/>
            <a:ext cx="5486400" cy="5207000"/>
          </a:xfrm>
          <a:prstGeom prst="roundRect">
            <a:avLst>
              <a:gd name="adj" fmla="val 5000"/>
            </a:avLst>
          </a:prstGeom>
          <a:solidFill>
            <a:srgbClr val="1A0A0A"/>
          </a:solidFill>
          <a:ln w="22860">
            <a:solidFill>
              <a:srgbClr val="E05C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Panel61"/>
          <p:cNvSpPr/>
          <p:nvPr/>
        </p:nvSpPr>
        <p:spPr>
          <a:xfrm>
            <a:off x="6223000" y="1295400"/>
            <a:ext cx="5486400" cy="5207000"/>
          </a:xfrm>
          <a:prstGeom prst="roundRect">
            <a:avLst>
              <a:gd name="adj" fmla="val 5000"/>
            </a:avLst>
          </a:prstGeom>
          <a:solidFill>
            <a:srgbClr val="0A1525"/>
          </a:solidFill>
          <a:ln w="22860">
            <a:solidFill>
              <a:srgbClr val="3A86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5BBA84-2DBD-54F5-AB9F-4BDEE288E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5486400" cy="5080000"/>
          </a:xfrm>
        </p:spPr>
        <p:txBody>
          <a:bodyPr/>
          <a:lstStyle/>
          <a:p>
            <a:pPr algn="l">
              <a:buNone/>
            </a:pPr>
            <a:r>
              <a:rPr lang="en-US" sz="2200" b="1" dirty="0">
                <a:solidFill>
                  <a:srgbClr val="E05C5C"/>
                </a:solidFill>
              </a:rPr>
              <a:t>Limitations</a:t>
            </a:r>
          </a:p>
          <a:p>
            <a:pPr marL="342900" indent="-342900" algn="l">
              <a:buChar char="•"/>
            </a:pPr>
            <a:r>
              <a:rPr lang="en-US" sz="1800" dirty="0">
                <a:solidFill>
                  <a:srgbClr val="D8DCE8"/>
                </a:solidFill>
              </a:rPr>
              <a:t>Console UI only — no GUI</a:t>
            </a:r>
          </a:p>
          <a:p>
            <a:pPr marL="342900" indent="-342900" algn="l">
              <a:buChar char="•"/>
            </a:pPr>
            <a:r>
              <a:rPr lang="en-US" sz="1800" dirty="0">
                <a:solidFill>
                  <a:srgbClr val="D8DCE8"/>
                </a:solidFill>
              </a:rPr>
              <a:t>Data resets on fresh launch (test data re-created in Main.java)</a:t>
            </a:r>
          </a:p>
          <a:p>
            <a:pPr marL="342900" indent="-342900" algn="l">
              <a:buChar char="•"/>
            </a:pPr>
            <a:r>
              <a:rPr lang="en-US" sz="1800" dirty="0">
                <a:solidFill>
                  <a:srgbClr val="D8DCE8"/>
                </a:solidFill>
              </a:rPr>
              <a:t>Schedule/Room features built but not in demo menus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4E7B42-0EAF-C546-27AC-96FF700FF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397000"/>
            <a:ext cx="5486400" cy="5080000"/>
          </a:xfrm>
        </p:spPr>
        <p:txBody>
          <a:bodyPr/>
          <a:lstStyle/>
          <a:p>
            <a:pPr algn="l">
              <a:buNone/>
            </a:pPr>
            <a:r>
              <a:rPr lang="en-US" sz="2200" b="1" dirty="0">
                <a:solidFill>
                  <a:srgbClr val="3A86FF"/>
                </a:solidFill>
              </a:rPr>
              <a:t>Lessons Learned</a:t>
            </a:r>
          </a:p>
          <a:p>
            <a:pPr marL="342900" indent="-342900" algn="l">
              <a:buChar char="•"/>
            </a:pPr>
            <a:r>
              <a:rPr lang="en-US" sz="1600" b="1" dirty="0">
                <a:solidFill>
                  <a:srgbClr val="C9A84C"/>
                </a:solidFill>
              </a:rPr>
              <a:t>BufferedReader on System.in: </a:t>
            </a:r>
            <a:r>
              <a:rPr lang="en-US" sz="1600" dirty="0">
                <a:solidFill>
                  <a:srgbClr val="C8D8E8"/>
                </a:solidFill>
              </a:rPr>
              <a:t>Multiple readers cause data loss with piped input — pass single BR through app</a:t>
            </a:r>
          </a:p>
          <a:p>
            <a:pPr marL="342900" indent="-342900" algn="l">
              <a:buChar char="•"/>
            </a:pPr>
            <a:r>
              <a:rPr lang="en-US" sz="1600" b="1" dirty="0">
                <a:solidFill>
                  <a:srgbClr val="C9A84C"/>
                </a:solidFill>
              </a:rPr>
              <a:t>Windows UTF-8: </a:t>
            </a:r>
            <a:r>
              <a:rPr lang="en-US" sz="1600" dirty="0">
                <a:solidFill>
                  <a:srgbClr val="C8D8E8"/>
                </a:solidFill>
              </a:rPr>
              <a:t>System.setOut wrapper breaks Cyrillic — use JVM flags only</a:t>
            </a:r>
          </a:p>
          <a:p>
            <a:pPr marL="342900" indent="-342900" algn="l">
              <a:buChar char="•"/>
            </a:pPr>
            <a:r>
              <a:rPr lang="en-US" sz="1600" b="1" dirty="0">
                <a:solidFill>
                  <a:srgbClr val="C9A84C"/>
                </a:solidFill>
              </a:rPr>
              <a:t>Text-based menus: </a:t>
            </a:r>
            <a:r>
              <a:rPr lang="en-US" sz="1600" dirty="0">
                <a:solidFill>
                  <a:srgbClr val="C8D8E8"/>
                </a:solidFill>
              </a:rPr>
              <a:t>String-matching is fragile — replaced with numbered lists</a:t>
            </a:r>
          </a:p>
        </p:txBody>
      </p:sp>
    </p:spTree>
    <p:extLst>
      <p:ext uri="{BB962C8B-B14F-4D97-AF65-F5344CB8AC3E}">
        <p14:creationId xmlns:p14="http://schemas.microsoft.com/office/powerpoint/2010/main" val="24864513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[1778328735170]">
  <a:themeElements>
    <a:clrScheme name="Стандартная">
      <a:dk1>
        <a:srgbClr val="0D1B2A"/>
      </a:dk1>
      <a:lt1>
        <a:srgbClr val="F4F6F9"/>
      </a:lt1>
      <a:dk2>
        <a:srgbClr val="1A3A5C"/>
      </a:dk2>
      <a:lt2>
        <a:srgbClr val="E8EDF5"/>
      </a:lt2>
      <a:accent1>
        <a:srgbClr val="C9A84C"/>
      </a:accent1>
      <a:accent2>
        <a:srgbClr val="3A86FF"/>
      </a:accent2>
      <a:accent3>
        <a:srgbClr val="4CAF82"/>
      </a:accent3>
      <a:accent4>
        <a:srgbClr val="E05C5C"/>
      </a:accent4>
      <a:accent5>
        <a:srgbClr val="7B61FF"/>
      </a:accent5>
      <a:accent6>
        <a:srgbClr val="FF9F40"/>
      </a:accent6>
      <a:hlink>
        <a:srgbClr val="467886"/>
      </a:hlink>
      <a:folHlink>
        <a:srgbClr val="96607D"/>
      </a:folHlink>
    </a:clrScheme>
    <a:fontScheme name="Стандартная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B5D2E76-0CFB-47E9-A746-C21FEF291D7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179702b-64c1-437a-921d-578a0c54a65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304</Words>
  <Application>Microsoft Office PowerPoint</Application>
  <PresentationFormat>Широкоэкранный</PresentationFormat>
  <Paragraphs>45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Calibri</vt:lpstr>
      <vt:lpstr>Тема Office [1778328735170]</vt:lpstr>
      <vt:lpstr>University Management System</vt:lpstr>
      <vt:lpstr>What We Built</vt:lpstr>
      <vt:lpstr>What Works ✅</vt:lpstr>
      <vt:lpstr>Limitations ⚠️ &amp; Lessons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 Demchenko</dc:creator>
  <cp:lastModifiedBy>Alexandr Demchenko</cp:lastModifiedBy>
  <cp:revision>2</cp:revision>
  <dcterms:created xsi:type="dcterms:W3CDTF">2026-05-09T12:08:11Z</dcterms:created>
  <dcterms:modified xsi:type="dcterms:W3CDTF">2026-05-09T12:26:57Z</dcterms:modified>
</cp:coreProperties>
</file>